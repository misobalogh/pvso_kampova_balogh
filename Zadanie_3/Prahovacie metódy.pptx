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4" r:id="rId4"/>
    <p:sldId id="258" r:id="rId5"/>
    <p:sldId id="259" r:id="rId6"/>
    <p:sldId id="266" r:id="rId7"/>
    <p:sldId id="260" r:id="rId8"/>
    <p:sldId id="262" r:id="rId9"/>
    <p:sldId id="257" r:id="rId10"/>
  </p:sldIdLst>
  <p:sldSz cx="12192000" cy="6858000"/>
  <p:notesSz cx="6858000" cy="9144000"/>
  <p:defaultTextStyle>
    <a:defPPr>
      <a:defRPr lang="sk-S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redný štýl 2 - zvýrazneni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94660"/>
  </p:normalViewPr>
  <p:slideViewPr>
    <p:cSldViewPr snapToGrid="0">
      <p:cViewPr varScale="1">
        <p:scale>
          <a:sx n="78" d="100"/>
          <a:sy n="78" d="100"/>
        </p:scale>
        <p:origin x="629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1D1ED43-56D2-5E6F-F9C2-BDE4527596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9FA68C7E-5D33-39AC-6AEB-9C4019ABF6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62456466-5524-262A-D0D0-EEAAA97D2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9E110-9E8D-4351-99F8-9E9846FF842B}" type="datetimeFigureOut">
              <a:rPr lang="sk-SK" smtClean="0"/>
              <a:t>27. 3. 2026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C8940E75-E2E0-9F42-7C50-689D9F3C8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B13952A6-49E4-A03D-C0FE-CFC1F939B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4F3B8-D202-457D-9C69-674236A735D7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4205097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807AF3D-558F-53F7-1C12-2A89B22C9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0F75BFE8-35A9-03F5-31B6-74FF615F50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15CDF014-6B1B-C277-CFD3-4889EFE31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9E110-9E8D-4351-99F8-9E9846FF842B}" type="datetimeFigureOut">
              <a:rPr lang="sk-SK" smtClean="0"/>
              <a:t>27. 3. 2026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C923916F-67AE-18D8-DE1A-2BA1C9579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EC9D37E9-9214-FDF6-7A51-4E1A60EAE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4F3B8-D202-457D-9C69-674236A735D7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539506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01A9689-35CB-7F89-CD74-082CB7241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B07E821C-5D5F-EC32-2698-4456A51DDB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D0E4BBA4-3CF9-E10E-A7F1-F4E4B5457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9E110-9E8D-4351-99F8-9E9846FF842B}" type="datetimeFigureOut">
              <a:rPr lang="sk-SK" smtClean="0"/>
              <a:t>27. 3. 2026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43ACB349-83FB-4A36-8111-8CC72CE93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06BC30E5-B12D-75A1-6051-E855796AD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4F3B8-D202-457D-9C69-674236A735D7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94382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F3F167A-8B3B-744D-BE27-0FE21B9EE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0FAD360-2259-345E-DEE5-96A3A6E26D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B259925F-66E1-ED53-9E25-2E63A7E769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BF4E9876-4C4C-8213-B474-039AB4CE8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9E110-9E8D-4351-99F8-9E9846FF842B}" type="datetimeFigureOut">
              <a:rPr lang="sk-SK" smtClean="0"/>
              <a:t>27. 3. 2026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D9975B02-BFCA-DEA0-490A-58BB74B9F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FE77D1DE-6A06-F23B-A295-A2F41C8C6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4F3B8-D202-457D-9C69-674236A735D7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718239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CC1ADDB-53D4-1C47-BC7E-58F96D4CA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57BCFDB2-FB6F-14D5-E8B0-E3FEB72856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69501F7A-3DC8-DA61-D91E-701F19A09C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4DD57252-1448-6AA2-64EC-1B5409BB88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Zástupný objekt pre obsah 5">
            <a:extLst>
              <a:ext uri="{FF2B5EF4-FFF2-40B4-BE49-F238E27FC236}">
                <a16:creationId xmlns:a16="http://schemas.microsoft.com/office/drawing/2014/main" id="{A02AB785-CEAF-CA8B-4E3C-1E233D009C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7" name="Zástupný objekt pre dátum 6">
            <a:extLst>
              <a:ext uri="{FF2B5EF4-FFF2-40B4-BE49-F238E27FC236}">
                <a16:creationId xmlns:a16="http://schemas.microsoft.com/office/drawing/2014/main" id="{33F1FD8A-9C5D-632F-34DB-062729F49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9E110-9E8D-4351-99F8-9E9846FF842B}" type="datetimeFigureOut">
              <a:rPr lang="sk-SK" smtClean="0"/>
              <a:t>27. 3. 2026</a:t>
            </a:fld>
            <a:endParaRPr lang="sk-SK"/>
          </a:p>
        </p:txBody>
      </p:sp>
      <p:sp>
        <p:nvSpPr>
          <p:cNvPr id="8" name="Zástupný objekt pre pätu 7">
            <a:extLst>
              <a:ext uri="{FF2B5EF4-FFF2-40B4-BE49-F238E27FC236}">
                <a16:creationId xmlns:a16="http://schemas.microsoft.com/office/drawing/2014/main" id="{96D5C259-1E70-53CC-8021-F32BEA742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Zástupný objekt pre číslo snímky 8">
            <a:extLst>
              <a:ext uri="{FF2B5EF4-FFF2-40B4-BE49-F238E27FC236}">
                <a16:creationId xmlns:a16="http://schemas.microsoft.com/office/drawing/2014/main" id="{50EBADC4-6803-070E-AF20-98DBCB4E6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4F3B8-D202-457D-9C69-674236A735D7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80713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DAF2BDA-850E-B868-18FC-44B13FA25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dátum 2">
            <a:extLst>
              <a:ext uri="{FF2B5EF4-FFF2-40B4-BE49-F238E27FC236}">
                <a16:creationId xmlns:a16="http://schemas.microsoft.com/office/drawing/2014/main" id="{37FC7C44-0BC2-4D5B-A657-B89C1F934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9E110-9E8D-4351-99F8-9E9846FF842B}" type="datetimeFigureOut">
              <a:rPr lang="sk-SK" smtClean="0"/>
              <a:t>27. 3. 2026</a:t>
            </a:fld>
            <a:endParaRPr lang="sk-SK"/>
          </a:p>
        </p:txBody>
      </p:sp>
      <p:sp>
        <p:nvSpPr>
          <p:cNvPr id="4" name="Zástupný objekt pre pätu 3">
            <a:extLst>
              <a:ext uri="{FF2B5EF4-FFF2-40B4-BE49-F238E27FC236}">
                <a16:creationId xmlns:a16="http://schemas.microsoft.com/office/drawing/2014/main" id="{C355F6FC-263F-72CB-C3BA-A0CAADA3F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Zástupný objekt pre číslo snímky 4">
            <a:extLst>
              <a:ext uri="{FF2B5EF4-FFF2-40B4-BE49-F238E27FC236}">
                <a16:creationId xmlns:a16="http://schemas.microsoft.com/office/drawing/2014/main" id="{5DEF96BD-554F-4E8D-D7F2-F98FA96C9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4F3B8-D202-457D-9C69-674236A735D7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290513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dátum 1">
            <a:extLst>
              <a:ext uri="{FF2B5EF4-FFF2-40B4-BE49-F238E27FC236}">
                <a16:creationId xmlns:a16="http://schemas.microsoft.com/office/drawing/2014/main" id="{1FC7F1CD-B26E-D610-88E8-E86210521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9E110-9E8D-4351-99F8-9E9846FF842B}" type="datetimeFigureOut">
              <a:rPr lang="sk-SK" smtClean="0"/>
              <a:t>27. 3. 2026</a:t>
            </a:fld>
            <a:endParaRPr lang="sk-SK"/>
          </a:p>
        </p:txBody>
      </p:sp>
      <p:sp>
        <p:nvSpPr>
          <p:cNvPr id="3" name="Zástupný objekt pre pätu 2">
            <a:extLst>
              <a:ext uri="{FF2B5EF4-FFF2-40B4-BE49-F238E27FC236}">
                <a16:creationId xmlns:a16="http://schemas.microsoft.com/office/drawing/2014/main" id="{1A39D6AE-50FD-4888-C236-568A2E4E1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BE0951DA-FBFE-E589-5AF3-36EB46A37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4F3B8-D202-457D-9C69-674236A735D7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981868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125C402-8D3C-A7E1-EA3D-0F8D4186A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5EB71485-BF37-0681-5AA4-B40D3E6AD7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6A4D7B35-B599-DDCC-7E7E-A700213D4B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C107384F-8C93-BCCF-8B55-D761A7CF6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9E110-9E8D-4351-99F8-9E9846FF842B}" type="datetimeFigureOut">
              <a:rPr lang="sk-SK" smtClean="0"/>
              <a:t>27. 3. 2026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B17164EF-546A-74B6-FD1C-B60E3E8E6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1C2B9496-73BB-01C2-C6FF-DCE0A464E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4F3B8-D202-457D-9C69-674236A735D7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7204670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228EFAF-359D-0244-5105-941D3A20F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rázok 2">
            <a:extLst>
              <a:ext uri="{FF2B5EF4-FFF2-40B4-BE49-F238E27FC236}">
                <a16:creationId xmlns:a16="http://schemas.microsoft.com/office/drawing/2014/main" id="{AF07B138-5187-4FB2-4324-A94A8AAB77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k-SK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CAC730D7-2E9F-1FEA-0545-6B6AC2210B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7B1D6D82-4317-B3CC-4A38-650756DC4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9E110-9E8D-4351-99F8-9E9846FF842B}" type="datetimeFigureOut">
              <a:rPr lang="sk-SK" smtClean="0"/>
              <a:t>27. 3. 2026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8810B72B-EFE3-86DA-A4E4-4D01C0BDC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C4E3F0CC-74D1-149C-1054-379F49375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4F3B8-D202-457D-9C69-674236A735D7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906231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E54FE88-F29F-5269-CCC4-EB923AB5C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zvislý text 2">
            <a:extLst>
              <a:ext uri="{FF2B5EF4-FFF2-40B4-BE49-F238E27FC236}">
                <a16:creationId xmlns:a16="http://schemas.microsoft.com/office/drawing/2014/main" id="{7CEC724E-2225-C8F4-3884-716F95F9F2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2308861F-94E2-1DE2-0981-717A7D00E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9E110-9E8D-4351-99F8-9E9846FF842B}" type="datetimeFigureOut">
              <a:rPr lang="sk-SK" smtClean="0"/>
              <a:t>27. 3. 2026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5E144AE8-051B-9313-630A-73B54FB28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B71FAA14-5B2F-C3BD-6128-7972C8F36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4F3B8-D202-457D-9C69-674236A735D7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548624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vislý nadpis 1">
            <a:extLst>
              <a:ext uri="{FF2B5EF4-FFF2-40B4-BE49-F238E27FC236}">
                <a16:creationId xmlns:a16="http://schemas.microsoft.com/office/drawing/2014/main" id="{DB64F28D-D8C9-97A1-7566-7A89B767D3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zvislý text 2">
            <a:extLst>
              <a:ext uri="{FF2B5EF4-FFF2-40B4-BE49-F238E27FC236}">
                <a16:creationId xmlns:a16="http://schemas.microsoft.com/office/drawing/2014/main" id="{F2E2C2B1-CB19-3014-7F42-3288EBD39B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62B0D948-B576-FCCD-294C-ED614B099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9E110-9E8D-4351-99F8-9E9846FF842B}" type="datetimeFigureOut">
              <a:rPr lang="sk-SK" smtClean="0"/>
              <a:t>27. 3. 2026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9406E7B0-2661-7E64-C1CB-7285D64D0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ED356E51-47A6-F291-695E-BF29A22CA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4F3B8-D202-457D-9C69-674236A735D7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078976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nadpis 1">
            <a:extLst>
              <a:ext uri="{FF2B5EF4-FFF2-40B4-BE49-F238E27FC236}">
                <a16:creationId xmlns:a16="http://schemas.microsoft.com/office/drawing/2014/main" id="{90119CDB-B8BB-0630-CDBD-A082B9772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B499CA91-2A34-BA6A-596B-4118DDF413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FB7B5388-4514-094D-BFBB-CB38ACD31F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49E110-9E8D-4351-99F8-9E9846FF842B}" type="datetimeFigureOut">
              <a:rPr lang="sk-SK" smtClean="0"/>
              <a:t>27. 3. 2026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94DBDD23-FD9A-D6E8-D5EA-2A7585DC97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E9A57546-2868-97E7-B9D4-D863AF1892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24F3B8-D202-457D-9C69-674236A735D7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408937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k-S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97D6585-BF56-4A25-21AC-6A0EE115CF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8194" y="1643042"/>
            <a:ext cx="9576619" cy="973240"/>
          </a:xfrm>
        </p:spPr>
        <p:txBody>
          <a:bodyPr>
            <a:normAutofit fontScale="90000"/>
          </a:bodyPr>
          <a:lstStyle/>
          <a:p>
            <a:r>
              <a:rPr lang="sk-SK" sz="6600" dirty="0">
                <a:latin typeface="Aptos Display" panose="020B0004020202020204" pitchFamily="34" charset="0"/>
              </a:rPr>
              <a:t>Prahovacie metódy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F9DEF47F-FA5D-F237-9A5C-5AD095722F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78194" y="6226276"/>
            <a:ext cx="2074606" cy="604685"/>
          </a:xfrm>
        </p:spPr>
        <p:txBody>
          <a:bodyPr>
            <a:normAutofit fontScale="70000" lnSpcReduction="20000"/>
          </a:bodyPr>
          <a:lstStyle/>
          <a:p>
            <a:r>
              <a:rPr lang="sk-SK" dirty="0"/>
              <a:t>Michal Balogh</a:t>
            </a:r>
          </a:p>
          <a:p>
            <a:r>
              <a:rPr lang="sk-SK" dirty="0"/>
              <a:t>Jana Kampová</a:t>
            </a:r>
          </a:p>
        </p:txBody>
      </p:sp>
      <p:sp>
        <p:nvSpPr>
          <p:cNvPr id="4" name="Freeform 6">
            <a:extLst>
              <a:ext uri="{FF2B5EF4-FFF2-40B4-BE49-F238E27FC236}">
                <a16:creationId xmlns:a16="http://schemas.microsoft.com/office/drawing/2014/main" id="{1287C4BE-425D-0E32-5F47-04C04BD93C13}"/>
              </a:ext>
            </a:extLst>
          </p:cNvPr>
          <p:cNvSpPr/>
          <p:nvPr/>
        </p:nvSpPr>
        <p:spPr>
          <a:xfrm>
            <a:off x="-98323" y="6004270"/>
            <a:ext cx="1718404" cy="893681"/>
          </a:xfrm>
          <a:custGeom>
            <a:avLst/>
            <a:gdLst>
              <a:gd name="textAreaLeft" fmla="*/ 0 w 3701520"/>
              <a:gd name="textAreaRight" fmla="*/ 3702600 w 3701520"/>
              <a:gd name="textAreaTop" fmla="*/ 0 h 1935000"/>
              <a:gd name="textAreaBottom" fmla="*/ 1936080 h 1935000"/>
            </a:gdLst>
            <a:ahLst/>
            <a:cxnLst/>
            <a:rect l="textAreaLeft" t="textAreaTop" r="textAreaRight" b="textAreaBottom"/>
            <a:pathLst>
              <a:path w="3702458" h="1936164">
                <a:moveTo>
                  <a:pt x="0" y="0"/>
                </a:moveTo>
                <a:lnTo>
                  <a:pt x="3702458" y="0"/>
                </a:lnTo>
                <a:lnTo>
                  <a:pt x="3702458" y="1936164"/>
                </a:lnTo>
                <a:lnTo>
                  <a:pt x="0" y="193616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sk-SK" sz="1800" b="0" strike="noStrike" spc="-1">
              <a:solidFill>
                <a:srgbClr val="000000"/>
              </a:solidFill>
              <a:latin typeface="Calibri"/>
              <a:ea typeface="DejaVu Sans"/>
            </a:endParaRPr>
          </a:p>
        </p:txBody>
      </p:sp>
      <p:sp>
        <p:nvSpPr>
          <p:cNvPr id="6" name="BlokTextu 5">
            <a:extLst>
              <a:ext uri="{FF2B5EF4-FFF2-40B4-BE49-F238E27FC236}">
                <a16:creationId xmlns:a16="http://schemas.microsoft.com/office/drawing/2014/main" id="{531730D4-FB44-47AE-C58E-A9796F971DA4}"/>
              </a:ext>
            </a:extLst>
          </p:cNvPr>
          <p:cNvSpPr txBox="1"/>
          <p:nvPr/>
        </p:nvSpPr>
        <p:spPr>
          <a:xfrm>
            <a:off x="11189110" y="6528619"/>
            <a:ext cx="1002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dirty="0"/>
              <a:t>LS 2026</a:t>
            </a:r>
          </a:p>
        </p:txBody>
      </p:sp>
      <p:sp>
        <p:nvSpPr>
          <p:cNvPr id="5" name="Nadpis 1">
            <a:extLst>
              <a:ext uri="{FF2B5EF4-FFF2-40B4-BE49-F238E27FC236}">
                <a16:creationId xmlns:a16="http://schemas.microsoft.com/office/drawing/2014/main" id="{00D6DA7D-29C6-6543-434F-ABB6E6CCF044}"/>
              </a:ext>
            </a:extLst>
          </p:cNvPr>
          <p:cNvSpPr txBox="1">
            <a:spLocks/>
          </p:cNvSpPr>
          <p:nvPr/>
        </p:nvSpPr>
        <p:spPr>
          <a:xfrm>
            <a:off x="1307690" y="558799"/>
            <a:ext cx="9576619" cy="97324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sk-SK" sz="3600" dirty="0">
                <a:latin typeface="Aptos Display" panose="020B0004020202020204" pitchFamily="34" charset="0"/>
              </a:rPr>
              <a:t>Skupina A</a:t>
            </a:r>
          </a:p>
        </p:txBody>
      </p:sp>
    </p:spTree>
    <p:extLst>
      <p:ext uri="{BB962C8B-B14F-4D97-AF65-F5344CB8AC3E}">
        <p14:creationId xmlns:p14="http://schemas.microsoft.com/office/powerpoint/2010/main" val="26816864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37B1BA3-9733-F3D1-75D5-04A9A1A63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Čo je prahovanie?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7C8B4CCF-C71F-BD3F-F4A0-7E09850E4A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dirty="0"/>
              <a:t> Technika segmentácie obrazu </a:t>
            </a:r>
          </a:p>
          <a:p>
            <a:r>
              <a:rPr lang="sk-SK" dirty="0"/>
              <a:t> Oddelenie popredia od pozadia, predspracovanie  </a:t>
            </a:r>
          </a:p>
          <a:p>
            <a:r>
              <a:rPr lang="sk-SK" dirty="0"/>
              <a:t> Každý pixel sa porovná s prahom T </a:t>
            </a:r>
          </a:p>
          <a:p>
            <a:r>
              <a:rPr lang="sk-SK" dirty="0"/>
              <a:t> Vstup: </a:t>
            </a:r>
            <a:r>
              <a:rPr lang="sk-SK" dirty="0" err="1"/>
              <a:t>grayscale</a:t>
            </a:r>
            <a:r>
              <a:rPr lang="sk-SK" dirty="0"/>
              <a:t> obraz</a:t>
            </a:r>
          </a:p>
          <a:p>
            <a:r>
              <a:rPr lang="sk-SK" dirty="0"/>
              <a:t> Výstup: binárny obraz (0 alebo 255) </a:t>
            </a:r>
          </a:p>
        </p:txBody>
      </p:sp>
    </p:spTree>
    <p:extLst>
      <p:ext uri="{BB962C8B-B14F-4D97-AF65-F5344CB8AC3E}">
        <p14:creationId xmlns:p14="http://schemas.microsoft.com/office/powerpoint/2010/main" val="255063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0EDF808-72F2-76EC-0D12-6AFBBA754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Zadanie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963AFAE-2C42-F017-5A82-2B49150A07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sk-SK" dirty="0"/>
              <a:t>Implementácia a porovnanie algoritmov :</a:t>
            </a:r>
          </a:p>
          <a:p>
            <a:pPr lvl="1"/>
            <a:r>
              <a:rPr lang="sk-SK" dirty="0"/>
              <a:t>globálne prahovanie (manuálne)</a:t>
            </a:r>
          </a:p>
          <a:p>
            <a:pPr lvl="1"/>
            <a:r>
              <a:rPr lang="sk-SK" dirty="0"/>
              <a:t>Otsuho metóda</a:t>
            </a:r>
          </a:p>
          <a:p>
            <a:pPr lvl="1"/>
            <a:r>
              <a:rPr lang="sk-SK" dirty="0"/>
              <a:t>adaptívne prahovanie						</a:t>
            </a:r>
          </a:p>
        </p:txBody>
      </p:sp>
    </p:spTree>
    <p:extLst>
      <p:ext uri="{BB962C8B-B14F-4D97-AF65-F5344CB8AC3E}">
        <p14:creationId xmlns:p14="http://schemas.microsoft.com/office/powerpoint/2010/main" val="30058815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892715F-9F3F-9087-0BA3-D46337B1F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Globálne prahovanie (manuálne)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1239969-7A73-C0DF-9DDB-DD619E8A6E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sk-SK" b="1" dirty="0"/>
              <a:t>Princíp:</a:t>
            </a:r>
            <a:r>
              <a:rPr lang="sk-SK" dirty="0"/>
              <a:t> </a:t>
            </a:r>
          </a:p>
          <a:p>
            <a:pPr lvl="1"/>
            <a:r>
              <a:rPr lang="sk-SK" dirty="0"/>
              <a:t>Fixná hodnota (</a:t>
            </a:r>
            <a:r>
              <a:rPr lang="sk-SK" dirty="0" err="1"/>
              <a:t>Threshold</a:t>
            </a:r>
            <a:r>
              <a:rPr lang="sk-SK" dirty="0"/>
              <a:t>) pre celý obraz</a:t>
            </a:r>
          </a:p>
          <a:p>
            <a:pPr lvl="1"/>
            <a:endParaRPr lang="sk-SK" dirty="0"/>
          </a:p>
          <a:p>
            <a:pPr lvl="1"/>
            <a:r>
              <a:rPr lang="sk-SK" dirty="0"/>
              <a:t>Zlyhá pri nerovnomernom osvetlení</a:t>
            </a:r>
          </a:p>
          <a:p>
            <a:pPr lvl="1"/>
            <a:endParaRPr lang="sk-SK" dirty="0"/>
          </a:p>
          <a:p>
            <a:pPr lvl="1"/>
            <a:endParaRPr lang="sk-SK" dirty="0"/>
          </a:p>
          <a:p>
            <a:endParaRPr lang="sk-SK" dirty="0"/>
          </a:p>
        </p:txBody>
      </p:sp>
      <p:pic>
        <p:nvPicPr>
          <p:cNvPr id="5" name="Obrázok 4">
            <a:extLst>
              <a:ext uri="{FF2B5EF4-FFF2-40B4-BE49-F238E27FC236}">
                <a16:creationId xmlns:a16="http://schemas.microsoft.com/office/drawing/2014/main" id="{782C229D-31FE-206F-8A25-6A0E2261EC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0623" y="2734647"/>
            <a:ext cx="3715613" cy="301267"/>
          </a:xfrm>
          <a:prstGeom prst="rect">
            <a:avLst/>
          </a:prstGeom>
        </p:spPr>
      </p:pic>
      <p:pic>
        <p:nvPicPr>
          <p:cNvPr id="9" name="Obrázok 8">
            <a:extLst>
              <a:ext uri="{FF2B5EF4-FFF2-40B4-BE49-F238E27FC236}">
                <a16:creationId xmlns:a16="http://schemas.microsoft.com/office/drawing/2014/main" id="{CAEDBE99-E3DE-569C-42F5-FB8AE03C11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1261" y="2734647"/>
            <a:ext cx="2257793" cy="1879744"/>
          </a:xfrm>
          <a:prstGeom prst="rect">
            <a:avLst/>
          </a:prstGeom>
        </p:spPr>
      </p:pic>
      <p:pic>
        <p:nvPicPr>
          <p:cNvPr id="11" name="Obrázok 10">
            <a:extLst>
              <a:ext uri="{FF2B5EF4-FFF2-40B4-BE49-F238E27FC236}">
                <a16:creationId xmlns:a16="http://schemas.microsoft.com/office/drawing/2014/main" id="{774A0B64-02CE-A813-90C2-628FBF55BD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443" y="3788798"/>
            <a:ext cx="4001058" cy="1724266"/>
          </a:xfrm>
          <a:prstGeom prst="rect">
            <a:avLst/>
          </a:prstGeom>
        </p:spPr>
      </p:pic>
      <p:pic>
        <p:nvPicPr>
          <p:cNvPr id="13" name="Obrázok 12">
            <a:extLst>
              <a:ext uri="{FF2B5EF4-FFF2-40B4-BE49-F238E27FC236}">
                <a16:creationId xmlns:a16="http://schemas.microsoft.com/office/drawing/2014/main" id="{B536EA1F-F571-262D-DF23-6927B6DBA5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1787" y="2734647"/>
            <a:ext cx="2255929" cy="1873227"/>
          </a:xfrm>
          <a:prstGeom prst="rect">
            <a:avLst/>
          </a:prstGeom>
        </p:spPr>
      </p:pic>
      <p:pic>
        <p:nvPicPr>
          <p:cNvPr id="15" name="Obrázok 14">
            <a:extLst>
              <a:ext uri="{FF2B5EF4-FFF2-40B4-BE49-F238E27FC236}">
                <a16:creationId xmlns:a16="http://schemas.microsoft.com/office/drawing/2014/main" id="{C766831E-7A11-8961-1D83-2230644E00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1261" y="4667394"/>
            <a:ext cx="2257793" cy="1874775"/>
          </a:xfrm>
          <a:prstGeom prst="rect">
            <a:avLst/>
          </a:prstGeom>
        </p:spPr>
      </p:pic>
      <p:pic>
        <p:nvPicPr>
          <p:cNvPr id="17" name="Obrázok 16">
            <a:extLst>
              <a:ext uri="{FF2B5EF4-FFF2-40B4-BE49-F238E27FC236}">
                <a16:creationId xmlns:a16="http://schemas.microsoft.com/office/drawing/2014/main" id="{671E702C-69D3-23FD-4ACC-77312C8D017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95420" y="4650931"/>
            <a:ext cx="2302295" cy="1891238"/>
          </a:xfrm>
          <a:prstGeom prst="rect">
            <a:avLst/>
          </a:prstGeom>
        </p:spPr>
      </p:pic>
      <p:sp>
        <p:nvSpPr>
          <p:cNvPr id="18" name="BlokTextu 17">
            <a:extLst>
              <a:ext uri="{FF2B5EF4-FFF2-40B4-BE49-F238E27FC236}">
                <a16:creationId xmlns:a16="http://schemas.microsoft.com/office/drawing/2014/main" id="{02087033-DCB6-B972-DC0D-CDC84887E552}"/>
              </a:ext>
            </a:extLst>
          </p:cNvPr>
          <p:cNvSpPr txBox="1"/>
          <p:nvPr/>
        </p:nvSpPr>
        <p:spPr>
          <a:xfrm>
            <a:off x="11249297" y="2365315"/>
            <a:ext cx="679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dirty="0"/>
              <a:t>64</a:t>
            </a:r>
          </a:p>
        </p:txBody>
      </p:sp>
      <p:sp>
        <p:nvSpPr>
          <p:cNvPr id="19" name="BlokTextu 18">
            <a:extLst>
              <a:ext uri="{FF2B5EF4-FFF2-40B4-BE49-F238E27FC236}">
                <a16:creationId xmlns:a16="http://schemas.microsoft.com/office/drawing/2014/main" id="{FBD905F0-5FF1-5903-D130-D3C77D4DCCAB}"/>
              </a:ext>
            </a:extLst>
          </p:cNvPr>
          <p:cNvSpPr txBox="1"/>
          <p:nvPr/>
        </p:nvSpPr>
        <p:spPr>
          <a:xfrm>
            <a:off x="6174658" y="6488668"/>
            <a:ext cx="679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dirty="0"/>
              <a:t>128</a:t>
            </a:r>
          </a:p>
        </p:txBody>
      </p:sp>
      <p:sp>
        <p:nvSpPr>
          <p:cNvPr id="20" name="BlokTextu 19">
            <a:extLst>
              <a:ext uri="{FF2B5EF4-FFF2-40B4-BE49-F238E27FC236}">
                <a16:creationId xmlns:a16="http://schemas.microsoft.com/office/drawing/2014/main" id="{3CD029AE-D6D6-8BBD-0537-35A0C2452A5A}"/>
              </a:ext>
            </a:extLst>
          </p:cNvPr>
          <p:cNvSpPr txBox="1"/>
          <p:nvPr/>
        </p:nvSpPr>
        <p:spPr>
          <a:xfrm>
            <a:off x="11249297" y="6482258"/>
            <a:ext cx="679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dirty="0"/>
              <a:t>192</a:t>
            </a:r>
          </a:p>
        </p:txBody>
      </p:sp>
    </p:spTree>
    <p:extLst>
      <p:ext uri="{BB962C8B-B14F-4D97-AF65-F5344CB8AC3E}">
        <p14:creationId xmlns:p14="http://schemas.microsoft.com/office/powerpoint/2010/main" val="2600457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830861A-57DB-BAC9-E18A-C2E4EBCE1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Otsuho metóda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490DA90D-9BB8-661F-D450-0DC1E1E644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sk-SK" b="1" dirty="0"/>
              <a:t>Princíp: </a:t>
            </a:r>
          </a:p>
          <a:p>
            <a:pPr lvl="1"/>
            <a:r>
              <a:rPr lang="sk-SK" dirty="0"/>
              <a:t>Výpočet </a:t>
            </a:r>
            <a:r>
              <a:rPr lang="sk-SK" dirty="0" err="1"/>
              <a:t>histogramu</a:t>
            </a:r>
            <a:r>
              <a:rPr lang="sk-SK" dirty="0"/>
              <a:t> </a:t>
            </a:r>
          </a:p>
          <a:p>
            <a:pPr lvl="1"/>
            <a:r>
              <a:rPr lang="sk-SK" dirty="0"/>
              <a:t>Hľadanie maxima medzi-triednej </a:t>
            </a:r>
            <a:r>
              <a:rPr lang="sk-SK" dirty="0" err="1"/>
              <a:t>variancie</a:t>
            </a:r>
            <a:endParaRPr lang="sk-SK" dirty="0"/>
          </a:p>
          <a:p>
            <a:pPr lvl="1"/>
            <a:r>
              <a:rPr lang="sk-SK" dirty="0"/>
              <a:t>Prehľadá všetky možné prahy (0–255) a vyberie najlepší</a:t>
            </a:r>
          </a:p>
          <a:p>
            <a:pPr lvl="1"/>
            <a:r>
              <a:rPr lang="sk-SK" dirty="0"/>
              <a:t>Funguje dobre na </a:t>
            </a:r>
            <a:r>
              <a:rPr lang="sk-SK" dirty="0" err="1"/>
              <a:t>bimodálny</a:t>
            </a:r>
            <a:r>
              <a:rPr lang="sk-SK" dirty="0"/>
              <a:t> </a:t>
            </a:r>
            <a:r>
              <a:rPr lang="sk-SK" dirty="0" err="1"/>
              <a:t>histogram</a:t>
            </a:r>
            <a:endParaRPr lang="sk-SK" dirty="0"/>
          </a:p>
          <a:p>
            <a:pPr lvl="1"/>
            <a:endParaRPr lang="sk-SK" dirty="0"/>
          </a:p>
          <a:p>
            <a:pPr lvl="1"/>
            <a:endParaRPr lang="sk-SK" b="1" dirty="0"/>
          </a:p>
          <a:p>
            <a:pPr lvl="1"/>
            <a:endParaRPr lang="sk-SK" b="1" dirty="0"/>
          </a:p>
          <a:p>
            <a:pPr lvl="1"/>
            <a:endParaRPr lang="sk-SK" b="1" dirty="0"/>
          </a:p>
          <a:p>
            <a:pPr lvl="1"/>
            <a:endParaRPr lang="sk-SK" b="1" dirty="0"/>
          </a:p>
        </p:txBody>
      </p:sp>
      <p:pic>
        <p:nvPicPr>
          <p:cNvPr id="7" name="Obrázok 6">
            <a:extLst>
              <a:ext uri="{FF2B5EF4-FFF2-40B4-BE49-F238E27FC236}">
                <a16:creationId xmlns:a16="http://schemas.microsoft.com/office/drawing/2014/main" id="{DC22DC05-1D90-5A06-76AC-77E9066D18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821" y="4033969"/>
            <a:ext cx="2048161" cy="1705213"/>
          </a:xfrm>
          <a:prstGeom prst="rect">
            <a:avLst/>
          </a:prstGeom>
        </p:spPr>
      </p:pic>
      <p:pic>
        <p:nvPicPr>
          <p:cNvPr id="9" name="Obrázok 8">
            <a:extLst>
              <a:ext uri="{FF2B5EF4-FFF2-40B4-BE49-F238E27FC236}">
                <a16:creationId xmlns:a16="http://schemas.microsoft.com/office/drawing/2014/main" id="{9FD0F4A5-2885-1FFD-9879-1965612CCE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9982" y="4024443"/>
            <a:ext cx="3943900" cy="1714739"/>
          </a:xfrm>
          <a:prstGeom prst="rect">
            <a:avLst/>
          </a:prstGeom>
        </p:spPr>
      </p:pic>
      <p:pic>
        <p:nvPicPr>
          <p:cNvPr id="11" name="Obrázok 10">
            <a:extLst>
              <a:ext uri="{FF2B5EF4-FFF2-40B4-BE49-F238E27FC236}">
                <a16:creationId xmlns:a16="http://schemas.microsoft.com/office/drawing/2014/main" id="{670BFD1D-ABF8-D8D0-601F-3C2C860C77BC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</a:blip>
          <a:stretch>
            <a:fillRect/>
          </a:stretch>
        </p:blipFill>
        <p:spPr>
          <a:xfrm>
            <a:off x="7683777" y="3883495"/>
            <a:ext cx="2816506" cy="2112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6050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DCC93A3-2827-CCF0-BE1F-B1547C64C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Otsuho metóda</a:t>
            </a:r>
          </a:p>
        </p:txBody>
      </p:sp>
      <p:pic>
        <p:nvPicPr>
          <p:cNvPr id="5" name="Obrázok 4">
            <a:extLst>
              <a:ext uri="{FF2B5EF4-FFF2-40B4-BE49-F238E27FC236}">
                <a16:creationId xmlns:a16="http://schemas.microsoft.com/office/drawing/2014/main" id="{00FDECD9-E870-BB01-716E-FBCFF5BB25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4397" y="2606040"/>
            <a:ext cx="5253990" cy="2626995"/>
          </a:xfrm>
          <a:prstGeom prst="rect">
            <a:avLst/>
          </a:prstGeom>
        </p:spPr>
      </p:pic>
      <p:pic>
        <p:nvPicPr>
          <p:cNvPr id="7" name="Obrázok 6">
            <a:extLst>
              <a:ext uri="{FF2B5EF4-FFF2-40B4-BE49-F238E27FC236}">
                <a16:creationId xmlns:a16="http://schemas.microsoft.com/office/drawing/2014/main" id="{9EB8778B-B6B5-FF02-EA4E-50CD7A64CC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420" y="1848847"/>
            <a:ext cx="5253990" cy="3384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2242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72CCE7A-5FA5-DA2B-BB4C-8B1350244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Adaptívne prahovanie (lokálny priemer)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AC6FECC-E4AC-ADDB-DEB9-E7F6A8B972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sk-SK" b="1" dirty="0"/>
              <a:t>Princíp:  </a:t>
            </a:r>
          </a:p>
          <a:p>
            <a:pPr lvl="1"/>
            <a:r>
              <a:rPr lang="sk-SK" dirty="0"/>
              <a:t>Výpočet lokálneho priemeru okolia veľkosti N * N  pre každý pixel pomocou integrálov</a:t>
            </a:r>
          </a:p>
          <a:p>
            <a:pPr lvl="1"/>
            <a:r>
              <a:rPr lang="sk-SK" dirty="0"/>
              <a:t>Výhoda: Odolný voči nerovnomernému osvetleniu</a:t>
            </a:r>
          </a:p>
          <a:p>
            <a:pPr lvl="1"/>
            <a:r>
              <a:rPr lang="sk-SK" dirty="0"/>
              <a:t>Nevýhoda: pomalšie, citlivejšie na šum</a:t>
            </a:r>
          </a:p>
          <a:p>
            <a:pPr lvl="1"/>
            <a:endParaRPr lang="sk-SK" dirty="0"/>
          </a:p>
          <a:p>
            <a:pPr lvl="1"/>
            <a:endParaRPr lang="sk-SK" dirty="0"/>
          </a:p>
          <a:p>
            <a:pPr lvl="1"/>
            <a:endParaRPr lang="sk-SK" dirty="0"/>
          </a:p>
          <a:p>
            <a:pPr lvl="1"/>
            <a:endParaRPr lang="sk-SK" dirty="0"/>
          </a:p>
        </p:txBody>
      </p:sp>
      <p:pic>
        <p:nvPicPr>
          <p:cNvPr id="7" name="Obrázok 6">
            <a:extLst>
              <a:ext uri="{FF2B5EF4-FFF2-40B4-BE49-F238E27FC236}">
                <a16:creationId xmlns:a16="http://schemas.microsoft.com/office/drawing/2014/main" id="{423A2A18-5FC6-C53F-443B-02CC817DB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2311" y="4509855"/>
            <a:ext cx="2048161" cy="1705213"/>
          </a:xfrm>
          <a:prstGeom prst="rect">
            <a:avLst/>
          </a:prstGeom>
        </p:spPr>
      </p:pic>
      <p:pic>
        <p:nvPicPr>
          <p:cNvPr id="9" name="Obrázok 8">
            <a:extLst>
              <a:ext uri="{FF2B5EF4-FFF2-40B4-BE49-F238E27FC236}">
                <a16:creationId xmlns:a16="http://schemas.microsoft.com/office/drawing/2014/main" id="{63C70D09-12FA-E226-189C-549E1CE9DD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0472" y="4509855"/>
            <a:ext cx="3915321" cy="1667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271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C78D7A3-6A74-2CA8-BA8A-0FEF86D5C2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925053" y="-787400"/>
            <a:ext cx="9144000" cy="2387600"/>
          </a:xfrm>
        </p:spPr>
        <p:txBody>
          <a:bodyPr/>
          <a:lstStyle/>
          <a:p>
            <a:r>
              <a:rPr lang="sk-SK" dirty="0"/>
              <a:t>Porovnanie:</a:t>
            </a:r>
          </a:p>
        </p:txBody>
      </p:sp>
      <p:graphicFrame>
        <p:nvGraphicFramePr>
          <p:cNvPr id="4" name="Tabuľka 3">
            <a:extLst>
              <a:ext uri="{FF2B5EF4-FFF2-40B4-BE49-F238E27FC236}">
                <a16:creationId xmlns:a16="http://schemas.microsoft.com/office/drawing/2014/main" id="{33058CF4-8D9F-715C-AC99-65F8F947A7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2972193"/>
              </p:ext>
            </p:extLst>
          </p:nvPr>
        </p:nvGraphicFramePr>
        <p:xfrm>
          <a:off x="7218947" y="4689155"/>
          <a:ext cx="4607292" cy="18845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1532">
                  <a:extLst>
                    <a:ext uri="{9D8B030D-6E8A-4147-A177-3AD203B41FA5}">
                      <a16:colId xmlns:a16="http://schemas.microsoft.com/office/drawing/2014/main" val="397118841"/>
                    </a:ext>
                  </a:extLst>
                </a:gridCol>
                <a:gridCol w="1445656">
                  <a:extLst>
                    <a:ext uri="{9D8B030D-6E8A-4147-A177-3AD203B41FA5}">
                      <a16:colId xmlns:a16="http://schemas.microsoft.com/office/drawing/2014/main" val="2029753533"/>
                    </a:ext>
                  </a:extLst>
                </a:gridCol>
                <a:gridCol w="1710104">
                  <a:extLst>
                    <a:ext uri="{9D8B030D-6E8A-4147-A177-3AD203B41FA5}">
                      <a16:colId xmlns:a16="http://schemas.microsoft.com/office/drawing/2014/main" val="1917426516"/>
                    </a:ext>
                  </a:extLst>
                </a:gridCol>
              </a:tblGrid>
              <a:tr h="471137">
                <a:tc>
                  <a:txBody>
                    <a:bodyPr/>
                    <a:lstStyle/>
                    <a:p>
                      <a:r>
                        <a:rPr lang="sk-SK" dirty="0"/>
                        <a:t>Metóda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Zhoda (%)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MSE (Chyba)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42781"/>
                  </a:ext>
                </a:extLst>
              </a:tr>
              <a:tr h="471137">
                <a:tc>
                  <a:txBody>
                    <a:bodyPr/>
                    <a:lstStyle/>
                    <a:p>
                      <a:pPr algn="l"/>
                      <a:r>
                        <a:rPr lang="sk-SK" b="1" dirty="0">
                          <a:solidFill>
                            <a:schemeClr val="tx1"/>
                          </a:solidFill>
                        </a:rPr>
                        <a:t>Global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100 %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787121"/>
                  </a:ext>
                </a:extLst>
              </a:tr>
              <a:tr h="471137">
                <a:tc>
                  <a:txBody>
                    <a:bodyPr/>
                    <a:lstStyle/>
                    <a:p>
                      <a:pPr algn="l"/>
                      <a:r>
                        <a:rPr lang="sk-SK" b="1" dirty="0" err="1">
                          <a:solidFill>
                            <a:schemeClr val="tx1"/>
                          </a:solidFill>
                        </a:rPr>
                        <a:t>Otsu</a:t>
                      </a:r>
                      <a:endParaRPr lang="sk-SK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99.8 %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&lt; 0.5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0009331"/>
                  </a:ext>
                </a:extLst>
              </a:tr>
              <a:tr h="471137">
                <a:tc>
                  <a:txBody>
                    <a:bodyPr/>
                    <a:lstStyle/>
                    <a:p>
                      <a:pPr algn="l"/>
                      <a:r>
                        <a:rPr lang="sk-SK" b="1" dirty="0" err="1">
                          <a:solidFill>
                            <a:schemeClr val="tx1"/>
                          </a:solidFill>
                        </a:rPr>
                        <a:t>Adaptive</a:t>
                      </a:r>
                      <a:endParaRPr lang="sk-SK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98.5 %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&lt; 0.2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8141962"/>
                  </a:ext>
                </a:extLst>
              </a:tr>
            </a:tbl>
          </a:graphicData>
        </a:graphic>
      </p:graphicFrame>
      <p:graphicFrame>
        <p:nvGraphicFramePr>
          <p:cNvPr id="5" name="Tabuľka 4">
            <a:extLst>
              <a:ext uri="{FF2B5EF4-FFF2-40B4-BE49-F238E27FC236}">
                <a16:creationId xmlns:a16="http://schemas.microsoft.com/office/drawing/2014/main" id="{D4D80B44-653F-AC7E-835E-B4392297C1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9036301"/>
              </p:ext>
            </p:extLst>
          </p:nvPr>
        </p:nvGraphicFramePr>
        <p:xfrm>
          <a:off x="936324" y="1783080"/>
          <a:ext cx="6175943" cy="2906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5737">
                  <a:extLst>
                    <a:ext uri="{9D8B030D-6E8A-4147-A177-3AD203B41FA5}">
                      <a16:colId xmlns:a16="http://schemas.microsoft.com/office/drawing/2014/main" val="397118841"/>
                    </a:ext>
                  </a:extLst>
                </a:gridCol>
                <a:gridCol w="2025219">
                  <a:extLst>
                    <a:ext uri="{9D8B030D-6E8A-4147-A177-3AD203B41FA5}">
                      <a16:colId xmlns:a16="http://schemas.microsoft.com/office/drawing/2014/main" val="2029753533"/>
                    </a:ext>
                  </a:extLst>
                </a:gridCol>
                <a:gridCol w="2204987">
                  <a:extLst>
                    <a:ext uri="{9D8B030D-6E8A-4147-A177-3AD203B41FA5}">
                      <a16:colId xmlns:a16="http://schemas.microsoft.com/office/drawing/2014/main" val="1917426516"/>
                    </a:ext>
                  </a:extLst>
                </a:gridCol>
              </a:tblGrid>
              <a:tr h="437195">
                <a:tc>
                  <a:txBody>
                    <a:bodyPr/>
                    <a:lstStyle/>
                    <a:p>
                      <a:r>
                        <a:rPr lang="sk-SK" dirty="0"/>
                        <a:t>Metóda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Výhody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Nevýhody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42781"/>
                  </a:ext>
                </a:extLst>
              </a:tr>
              <a:tr h="437195">
                <a:tc>
                  <a:txBody>
                    <a:bodyPr/>
                    <a:lstStyle/>
                    <a:p>
                      <a:pPr algn="l"/>
                      <a:r>
                        <a:rPr lang="sk-SK" b="1" dirty="0">
                          <a:solidFill>
                            <a:schemeClr val="tx1"/>
                          </a:solidFill>
                        </a:rPr>
                        <a:t>Global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Jednoduché, rýchle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Citlivé na osvetlenie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787121"/>
                  </a:ext>
                </a:extLst>
              </a:tr>
              <a:tr h="572801">
                <a:tc>
                  <a:txBody>
                    <a:bodyPr/>
                    <a:lstStyle/>
                    <a:p>
                      <a:pPr algn="l"/>
                      <a:r>
                        <a:rPr lang="sk-SK" b="1" dirty="0" err="1">
                          <a:solidFill>
                            <a:schemeClr val="tx1"/>
                          </a:solidFill>
                        </a:rPr>
                        <a:t>Otsu</a:t>
                      </a:r>
                      <a:endParaRPr lang="sk-SK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Automatický prah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Predpokladá </a:t>
                      </a:r>
                      <a:r>
                        <a:rPr lang="sk-SK" dirty="0" err="1"/>
                        <a:t>bimodálny</a:t>
                      </a:r>
                      <a:r>
                        <a:rPr lang="sk-SK" dirty="0"/>
                        <a:t> </a:t>
                      </a:r>
                      <a:r>
                        <a:rPr lang="sk-SK" dirty="0" err="1"/>
                        <a:t>histogram</a:t>
                      </a:r>
                      <a:endParaRPr lang="sk-SK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0009331"/>
                  </a:ext>
                </a:extLst>
              </a:tr>
              <a:tr h="818288">
                <a:tc>
                  <a:txBody>
                    <a:bodyPr/>
                    <a:lstStyle/>
                    <a:p>
                      <a:pPr algn="l"/>
                      <a:r>
                        <a:rPr lang="sk-SK" b="1" dirty="0" err="1">
                          <a:solidFill>
                            <a:schemeClr val="tx1"/>
                          </a:solidFill>
                        </a:rPr>
                        <a:t>Adaptive</a:t>
                      </a:r>
                      <a:endParaRPr lang="sk-SK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Odolné voči nerovnomernému osvetleniu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Pomalšie, šum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81419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89671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8">
            <a:extLst>
              <a:ext uri="{FF2B5EF4-FFF2-40B4-BE49-F238E27FC236}">
                <a16:creationId xmlns:a16="http://schemas.microsoft.com/office/drawing/2014/main" id="{CABE5B63-48FD-4766-899D-077AE696D761}"/>
              </a:ext>
            </a:extLst>
          </p:cNvPr>
          <p:cNvSpPr/>
          <p:nvPr/>
        </p:nvSpPr>
        <p:spPr>
          <a:xfrm>
            <a:off x="108153" y="4984955"/>
            <a:ext cx="3726427" cy="1799303"/>
          </a:xfrm>
          <a:custGeom>
            <a:avLst/>
            <a:gdLst>
              <a:gd name="textAreaLeft" fmla="*/ 0 w 5946840"/>
              <a:gd name="textAreaRight" fmla="*/ 5947920 w 5946840"/>
              <a:gd name="textAreaTop" fmla="*/ 0 h 3047400"/>
              <a:gd name="textAreaBottom" fmla="*/ 3048480 h 3047400"/>
            </a:gdLst>
            <a:ahLst/>
            <a:cxnLst/>
            <a:rect l="textAreaLeft" t="textAreaTop" r="textAreaRight" b="textAreaBottom"/>
            <a:pathLst>
              <a:path w="7930584" h="4064424">
                <a:moveTo>
                  <a:pt x="0" y="0"/>
                </a:moveTo>
                <a:lnTo>
                  <a:pt x="7930584" y="0"/>
                </a:lnTo>
                <a:lnTo>
                  <a:pt x="7930584" y="4064424"/>
                </a:lnTo>
                <a:lnTo>
                  <a:pt x="0" y="406442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sk-SK" sz="1800" b="0" strike="noStrike" spc="-1" dirty="0">
              <a:solidFill>
                <a:srgbClr val="000000"/>
              </a:solidFill>
              <a:latin typeface="Calibri"/>
              <a:ea typeface="DejaVu Sans"/>
            </a:endParaRPr>
          </a:p>
        </p:txBody>
      </p:sp>
      <p:sp>
        <p:nvSpPr>
          <p:cNvPr id="2" name="BlokTextu 1">
            <a:extLst>
              <a:ext uri="{FF2B5EF4-FFF2-40B4-BE49-F238E27FC236}">
                <a16:creationId xmlns:a16="http://schemas.microsoft.com/office/drawing/2014/main" id="{FB6723CB-E40A-7152-9C96-F86FC098FDC7}"/>
              </a:ext>
            </a:extLst>
          </p:cNvPr>
          <p:cNvSpPr txBox="1"/>
          <p:nvPr/>
        </p:nvSpPr>
        <p:spPr>
          <a:xfrm>
            <a:off x="2359742" y="1061885"/>
            <a:ext cx="74725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5400" dirty="0"/>
              <a:t>Ďakujeme za pozornosť</a:t>
            </a:r>
          </a:p>
        </p:txBody>
      </p:sp>
    </p:spTree>
    <p:extLst>
      <p:ext uri="{BB962C8B-B14F-4D97-AF65-F5344CB8AC3E}">
        <p14:creationId xmlns:p14="http://schemas.microsoft.com/office/powerpoint/2010/main" val="2391588682"/>
      </p:ext>
    </p:extLst>
  </p:cSld>
  <p:clrMapOvr>
    <a:masterClrMapping/>
  </p:clrMapOvr>
</p:sld>
</file>

<file path=ppt/theme/theme1.xml><?xml version="1.0" encoding="utf-8"?>
<a:theme xmlns:a="http://schemas.openxmlformats.org/drawingml/2006/main" name="Motí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4124</TotalTime>
  <Words>202</Words>
  <Application>Microsoft Office PowerPoint</Application>
  <PresentationFormat>Širokouhlá</PresentationFormat>
  <Paragraphs>68</Paragraphs>
  <Slides>9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4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Motív Office</vt:lpstr>
      <vt:lpstr>Prahovacie metódy</vt:lpstr>
      <vt:lpstr>Čo je prahovanie?</vt:lpstr>
      <vt:lpstr>Zadanie</vt:lpstr>
      <vt:lpstr>Globálne prahovanie (manuálne)</vt:lpstr>
      <vt:lpstr>Otsuho metóda</vt:lpstr>
      <vt:lpstr>Otsuho metóda</vt:lpstr>
      <vt:lpstr>Adaptívne prahovanie (lokálny priemer)</vt:lpstr>
      <vt:lpstr>Porovnanie:</vt:lpstr>
      <vt:lpstr>Prezentácia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Jana Kampová</dc:creator>
  <cp:lastModifiedBy>Jana Kampová</cp:lastModifiedBy>
  <cp:revision>10</cp:revision>
  <dcterms:created xsi:type="dcterms:W3CDTF">2026-03-23T14:59:40Z</dcterms:created>
  <dcterms:modified xsi:type="dcterms:W3CDTF">2026-03-30T14:07:07Z</dcterms:modified>
</cp:coreProperties>
</file>